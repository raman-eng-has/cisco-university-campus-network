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ragment Mono" panose="020B0604020202020204" charset="0"/>
      <p:regular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  <p:embeddedFont>
      <p:font typeface="Sora SemiBold" panose="020B0604020202020204" charset="0"/>
      <p:regular r:id="rId22"/>
    </p:embeddedFont>
    <p:embeddedFont>
      <p:font typeface="Spline Sans" panose="020B0604020202020204" charset="0"/>
      <p:regular r:id="rId23"/>
    </p:embeddedFont>
    <p:embeddedFont>
      <p:font typeface="Spline Sans Bold" panose="020B0604020202020204" charset="0"/>
      <p:regular r:id="rId24"/>
    </p:embeddedFont>
    <p:embeddedFont>
      <p:font typeface="Spline Sans Semi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71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complete campus network infrastructure simulated and verified in Cisco Packet Tracer. Highlight the enterprise scope: core-distribution hierarchy, 9 VLANs, dual-stack IPv4/IPv6, and centralized campus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three-tier hierarchy: Core, Distribution, and Access. Highlight the separation between the academic core and the residential hostel branch router to isolate mobile client broadcasts.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physical layer selection: DTE-to-DTE links (like router-to-router and switch-to-switch) utilize cross-over cabling in Packet Tracer, while router-to-switch and host links use straight-through cabling.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how VLAN IDs directly align with third-octet IPv4 addressing and fourth-hextet IPv6 addressing for administrative clarity. VLAN 99 is dedicated solely to switch SVIs for out-of-band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how ROAS multiplexes multiple VLANs across a single gigabit link to R-CAMPUS, while Rapid-PVST maintains sub-second reconvergence if the primary distribution links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no auto-summary is mandatory in RIPv2: without it, subnets of 192.168.0.0/16 collapse into classful boundaries. Show the propagation flow of the 0.0.0.0/0 default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student user journey: mobile and laptop clients associate with the WPA2-PSK SSID on AP-HOSTEL, lease their IP from R-HOSTEL's local DHCP server, and immediately resolve campus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PAT conserves public IPv4 addresses while providing full egress to the simulated internet server at 203.0.113.10. Emphasize that internal queries for www.campus.local stay local to the server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results: all 16 acceptance test criteria were satisfied in Cisco Packet Tracer. Outline next steps for production deployment, including HSRP for gateway redundancy and migration from RIPv2 to multi-area OSPF.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3721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ADVANCED COMPUTER NETWORKS · CSE DEPARTMENT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66398"/>
            <a:ext cx="6400640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9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Enterprise University Campus Network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554486"/>
            <a:ext cx="6400640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Scalable, resilient, dual-stack architecture designed, implemented, and verified in Cisco Packet Tracer.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395067"/>
            <a:ext cx="3047825" cy="1079996"/>
          </a:xfrm>
          <a:prstGeom prst="roundRect">
            <a:avLst>
              <a:gd name="adj" fmla="val 7902"/>
            </a:avLst>
          </a:prstGeom>
          <a:solidFill>
            <a:srgbClr val="26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1981" y="3526989"/>
            <a:ext cx="28954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CORE STACK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1981" y="3834745"/>
            <a:ext cx="27430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802.1w Rapid-PVST · 802.1Q ROAS · RIPv2 · PAT/NAT Overload · SLAAC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62202" y="3395067"/>
            <a:ext cx="3047924" cy="1079996"/>
          </a:xfrm>
          <a:prstGeom prst="roundRect">
            <a:avLst>
              <a:gd name="adj" fmla="val 7902"/>
            </a:avLst>
          </a:prstGeom>
          <a:solidFill>
            <a:srgbClr val="262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598" y="3526989"/>
            <a:ext cx="28955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SCOPE &amp; SERVICES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598" y="3834745"/>
            <a:ext cx="274313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 Routers · 5 Switches · 4 Servers · 10 PCs · DNS · Intranet Web · DHCP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6190059"/>
            <a:ext cx="6705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0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PRESENTER: STUDENT ID / DEPARTMENT OF CSE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noFill/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367" y="6350"/>
            <a:ext cx="4863978" cy="684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BF0C0D-CBA2-6B6A-4260-C511C837C5BB}"/>
              </a:ext>
            </a:extLst>
          </p:cNvPr>
          <p:cNvSpPr/>
          <p:nvPr/>
        </p:nvSpPr>
        <p:spPr>
          <a:xfrm>
            <a:off x="85659" y="1413622"/>
            <a:ext cx="8248341" cy="5257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ARCHITECTURE HIERARCHY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1053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Three tiers isolate departments under central control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33867" y="2604849"/>
            <a:ext cx="320041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Design Principles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33867" y="3034209"/>
            <a:ext cx="3200419" cy="2407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Three-tier design: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removes broadcast bottlenecks and isolates admin, academic, server and residential traffic.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Independent routing: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at the hostel keeps guest mobile devices away from core academic databases.</a:t>
            </a:r>
            <a:endParaRPr lang="en-US" sz="16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4CA3FF-9288-9F73-A028-B1F68181206F}"/>
              </a:ext>
            </a:extLst>
          </p:cNvPr>
          <p:cNvSpPr/>
          <p:nvPr/>
        </p:nvSpPr>
        <p:spPr>
          <a:xfrm>
            <a:off x="4252905" y="2091714"/>
            <a:ext cx="6336" cy="538577"/>
          </a:xfrm>
          <a:custGeom>
            <a:avLst/>
            <a:gdLst>
              <a:gd name="csX0" fmla="*/ 0 w 6336"/>
              <a:gd name="csY0" fmla="*/ 0 h 538577"/>
              <a:gd name="csX1" fmla="*/ 0 w 6336"/>
              <a:gd name="csY1" fmla="*/ 538578 h 538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6" h="538577">
                <a:moveTo>
                  <a:pt x="0" y="0"/>
                </a:moveTo>
                <a:lnTo>
                  <a:pt x="0" y="538578"/>
                </a:lnTo>
              </a:path>
            </a:pathLst>
          </a:custGeom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241A516-1E31-BC48-6648-20F2EA1277B3}"/>
              </a:ext>
            </a:extLst>
          </p:cNvPr>
          <p:cNvSpPr/>
          <p:nvPr/>
        </p:nvSpPr>
        <p:spPr>
          <a:xfrm>
            <a:off x="4252905" y="3073827"/>
            <a:ext cx="6336" cy="538577"/>
          </a:xfrm>
          <a:custGeom>
            <a:avLst/>
            <a:gdLst>
              <a:gd name="csX0" fmla="*/ 0 w 6336"/>
              <a:gd name="csY0" fmla="*/ 0 h 538577"/>
              <a:gd name="csX1" fmla="*/ 0 w 6336"/>
              <a:gd name="csY1" fmla="*/ 538578 h 538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6" h="538577">
                <a:moveTo>
                  <a:pt x="0" y="0"/>
                </a:moveTo>
                <a:lnTo>
                  <a:pt x="0" y="538578"/>
                </a:lnTo>
              </a:path>
            </a:pathLst>
          </a:custGeom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3814B6-E9F1-EB2D-899F-54829852B541}"/>
              </a:ext>
            </a:extLst>
          </p:cNvPr>
          <p:cNvSpPr/>
          <p:nvPr/>
        </p:nvSpPr>
        <p:spPr>
          <a:xfrm>
            <a:off x="1126286" y="4412450"/>
            <a:ext cx="6336" cy="665301"/>
          </a:xfrm>
          <a:custGeom>
            <a:avLst/>
            <a:gdLst>
              <a:gd name="csX0" fmla="*/ 0 w 6336"/>
              <a:gd name="csY0" fmla="*/ 0 h 665301"/>
              <a:gd name="csX1" fmla="*/ 0 w 6336"/>
              <a:gd name="csY1" fmla="*/ 665302 h 665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6" h="665301">
                <a:moveTo>
                  <a:pt x="0" y="0"/>
                </a:moveTo>
                <a:lnTo>
                  <a:pt x="0" y="665302"/>
                </a:lnTo>
              </a:path>
            </a:pathLst>
          </a:custGeom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DE8D5AB-D96A-CB3D-EF57-68EFEA367043}"/>
              </a:ext>
            </a:extLst>
          </p:cNvPr>
          <p:cNvSpPr/>
          <p:nvPr/>
        </p:nvSpPr>
        <p:spPr>
          <a:xfrm>
            <a:off x="1126286" y="5489605"/>
            <a:ext cx="6336" cy="570258"/>
          </a:xfrm>
          <a:custGeom>
            <a:avLst/>
            <a:gdLst>
              <a:gd name="csX0" fmla="*/ 0 w 6336"/>
              <a:gd name="csY0" fmla="*/ 0 h 570258"/>
              <a:gd name="csX1" fmla="*/ 0 w 6336"/>
              <a:gd name="csY1" fmla="*/ 570259 h 570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6" h="570258">
                <a:moveTo>
                  <a:pt x="0" y="0"/>
                </a:moveTo>
                <a:lnTo>
                  <a:pt x="0" y="570259"/>
                </a:lnTo>
              </a:path>
            </a:pathLst>
          </a:custGeom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4BAAD15-83C0-912C-C5CB-378540FDB5E5}"/>
              </a:ext>
            </a:extLst>
          </p:cNvPr>
          <p:cNvSpPr/>
          <p:nvPr/>
        </p:nvSpPr>
        <p:spPr>
          <a:xfrm>
            <a:off x="4627318" y="4441583"/>
            <a:ext cx="1267241" cy="665301"/>
          </a:xfrm>
          <a:custGeom>
            <a:avLst/>
            <a:gdLst>
              <a:gd name="csX0" fmla="*/ 1267242 w 1267241"/>
              <a:gd name="csY0" fmla="*/ 0 h 665301"/>
              <a:gd name="csX1" fmla="*/ 1267242 w 1267241"/>
              <a:gd name="csY1" fmla="*/ 253448 h 665301"/>
              <a:gd name="csX2" fmla="*/ 0 w 1267241"/>
              <a:gd name="csY2" fmla="*/ 253448 h 665301"/>
              <a:gd name="csX3" fmla="*/ 0 w 1267241"/>
              <a:gd name="csY3" fmla="*/ 665302 h 665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67241" h="665301">
                <a:moveTo>
                  <a:pt x="1267242" y="0"/>
                </a:moveTo>
                <a:lnTo>
                  <a:pt x="1267242" y="253448"/>
                </a:lnTo>
                <a:lnTo>
                  <a:pt x="0" y="253448"/>
                </a:lnTo>
                <a:lnTo>
                  <a:pt x="0" y="665302"/>
                </a:lnTo>
              </a:path>
            </a:pathLst>
          </a:custGeom>
          <a:noFill/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736C5E9-0758-BA98-C84A-C8865BF9E447}"/>
              </a:ext>
            </a:extLst>
          </p:cNvPr>
          <p:cNvSpPr/>
          <p:nvPr/>
        </p:nvSpPr>
        <p:spPr>
          <a:xfrm>
            <a:off x="6908353" y="4441583"/>
            <a:ext cx="633620" cy="665301"/>
          </a:xfrm>
          <a:custGeom>
            <a:avLst/>
            <a:gdLst>
              <a:gd name="csX0" fmla="*/ 0 w 633620"/>
              <a:gd name="csY0" fmla="*/ 0 h 665301"/>
              <a:gd name="csX1" fmla="*/ 0 w 633620"/>
              <a:gd name="csY1" fmla="*/ 253448 h 665301"/>
              <a:gd name="csX2" fmla="*/ 633621 w 633620"/>
              <a:gd name="csY2" fmla="*/ 253448 h 665301"/>
              <a:gd name="csX3" fmla="*/ 633621 w 633620"/>
              <a:gd name="csY3" fmla="*/ 665302 h 6653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3620" h="665301">
                <a:moveTo>
                  <a:pt x="0" y="0"/>
                </a:moveTo>
                <a:lnTo>
                  <a:pt x="0" y="253448"/>
                </a:lnTo>
                <a:lnTo>
                  <a:pt x="633621" y="253448"/>
                </a:lnTo>
                <a:lnTo>
                  <a:pt x="633621" y="665302"/>
                </a:lnTo>
              </a:path>
            </a:pathLst>
          </a:custGeom>
          <a:noFill/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A426456-FFED-6612-F947-81A17B959971}"/>
              </a:ext>
            </a:extLst>
          </p:cNvPr>
          <p:cNvSpPr/>
          <p:nvPr/>
        </p:nvSpPr>
        <p:spPr>
          <a:xfrm>
            <a:off x="6084646" y="4441583"/>
            <a:ext cx="316810" cy="1647414"/>
          </a:xfrm>
          <a:custGeom>
            <a:avLst/>
            <a:gdLst>
              <a:gd name="csX0" fmla="*/ 316810 w 316810"/>
              <a:gd name="csY0" fmla="*/ 0 h 1647414"/>
              <a:gd name="csX1" fmla="*/ 316810 w 316810"/>
              <a:gd name="csY1" fmla="*/ 1330604 h 1647414"/>
              <a:gd name="csX2" fmla="*/ 0 w 316810"/>
              <a:gd name="csY2" fmla="*/ 1330604 h 1647414"/>
              <a:gd name="csX3" fmla="*/ 0 w 316810"/>
              <a:gd name="csY3" fmla="*/ 1647414 h 16474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6810" h="1647414">
                <a:moveTo>
                  <a:pt x="316810" y="0"/>
                </a:moveTo>
                <a:lnTo>
                  <a:pt x="316810" y="1330604"/>
                </a:lnTo>
                <a:lnTo>
                  <a:pt x="0" y="1330604"/>
                </a:lnTo>
                <a:lnTo>
                  <a:pt x="0" y="1647414"/>
                </a:lnTo>
              </a:path>
            </a:pathLst>
          </a:custGeom>
          <a:noFill/>
          <a:ln w="1584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776BF2A-AB0F-A052-AA7D-577845156CD0}"/>
              </a:ext>
            </a:extLst>
          </p:cNvPr>
          <p:cNvSpPr/>
          <p:nvPr/>
        </p:nvSpPr>
        <p:spPr>
          <a:xfrm>
            <a:off x="4627318" y="5518738"/>
            <a:ext cx="443534" cy="792026"/>
          </a:xfrm>
          <a:custGeom>
            <a:avLst/>
            <a:gdLst>
              <a:gd name="csX0" fmla="*/ 0 w 443534"/>
              <a:gd name="csY0" fmla="*/ 0 h 792026"/>
              <a:gd name="csX1" fmla="*/ 0 w 443534"/>
              <a:gd name="csY1" fmla="*/ 792026 h 792026"/>
              <a:gd name="csX2" fmla="*/ 443535 w 443534"/>
              <a:gd name="csY2" fmla="*/ 792026 h 7920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3534" h="792026">
                <a:moveTo>
                  <a:pt x="0" y="0"/>
                </a:moveTo>
                <a:lnTo>
                  <a:pt x="0" y="792026"/>
                </a:lnTo>
                <a:lnTo>
                  <a:pt x="443535" y="792026"/>
                </a:lnTo>
              </a:path>
            </a:pathLst>
          </a:custGeom>
          <a:noFill/>
          <a:ln w="15840" cap="flat">
            <a:solidFill>
              <a:srgbClr val="F59E0B"/>
            </a:solidFill>
            <a:custDash>
              <a:ds d="450000" sp="375000"/>
            </a:custDash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272FF4-44F3-EEBF-E067-511E887CAC66}"/>
              </a:ext>
            </a:extLst>
          </p:cNvPr>
          <p:cNvSpPr/>
          <p:nvPr/>
        </p:nvSpPr>
        <p:spPr>
          <a:xfrm>
            <a:off x="4062818" y="2281801"/>
            <a:ext cx="380172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BC0AB1-7D2D-5F95-A66B-FB9331BB0AC3}"/>
              </a:ext>
            </a:extLst>
          </p:cNvPr>
          <p:cNvSpPr txBox="1"/>
          <p:nvPr/>
        </p:nvSpPr>
        <p:spPr>
          <a:xfrm>
            <a:off x="4066795" y="2236402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Fa0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B8529E-4C19-7483-A11F-D07DF366A1A1}"/>
              </a:ext>
            </a:extLst>
          </p:cNvPr>
          <p:cNvSpPr/>
          <p:nvPr/>
        </p:nvSpPr>
        <p:spPr>
          <a:xfrm>
            <a:off x="3746008" y="3263913"/>
            <a:ext cx="1013793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89B3B0-C504-C5BF-E0FC-9250E8814B24}"/>
              </a:ext>
            </a:extLst>
          </p:cNvPr>
          <p:cNvSpPr txBox="1"/>
          <p:nvPr/>
        </p:nvSpPr>
        <p:spPr>
          <a:xfrm>
            <a:off x="3663640" y="3218515"/>
            <a:ext cx="11785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WAN 200.1.1.0/30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03133E-B7BA-FCB4-E67E-AB2F5957AB2D}"/>
              </a:ext>
            </a:extLst>
          </p:cNvPr>
          <p:cNvSpPr/>
          <p:nvPr/>
        </p:nvSpPr>
        <p:spPr>
          <a:xfrm>
            <a:off x="587709" y="3506372"/>
            <a:ext cx="1077155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50E46-EC55-5292-955E-CEF3BDB42FF5}"/>
              </a:ext>
            </a:extLst>
          </p:cNvPr>
          <p:cNvSpPr txBox="1"/>
          <p:nvPr/>
        </p:nvSpPr>
        <p:spPr>
          <a:xfrm>
            <a:off x="679381" y="3460973"/>
            <a:ext cx="15424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 dirty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WAN 10.0.0.4/30 (RIPv2)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CD69ABF-F48E-79A0-54EE-5FD7E711D61D}"/>
              </a:ext>
            </a:extLst>
          </p:cNvPr>
          <p:cNvSpPr/>
          <p:nvPr/>
        </p:nvSpPr>
        <p:spPr>
          <a:xfrm>
            <a:off x="6021284" y="3535505"/>
            <a:ext cx="760345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1B5C81-AAF0-97C7-95AE-EB77F0C954EE}"/>
              </a:ext>
            </a:extLst>
          </p:cNvPr>
          <p:cNvSpPr txBox="1"/>
          <p:nvPr/>
        </p:nvSpPr>
        <p:spPr>
          <a:xfrm>
            <a:off x="5942036" y="3490106"/>
            <a:ext cx="9188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802.1Q Trunk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E83CEA-B6AA-A0BE-CB79-D40B137DD6AE}"/>
              </a:ext>
            </a:extLst>
          </p:cNvPr>
          <p:cNvSpPr/>
          <p:nvPr/>
        </p:nvSpPr>
        <p:spPr>
          <a:xfrm>
            <a:off x="746114" y="4665898"/>
            <a:ext cx="760345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5E2AD7-F53B-882C-325F-F319FD3080B7}"/>
              </a:ext>
            </a:extLst>
          </p:cNvPr>
          <p:cNvSpPr txBox="1"/>
          <p:nvPr/>
        </p:nvSpPr>
        <p:spPr>
          <a:xfrm>
            <a:off x="991165" y="4620500"/>
            <a:ext cx="9188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802.1Q Trunk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EC4AFD-F0F1-794B-6C20-EFF7CA31F3AD}"/>
              </a:ext>
            </a:extLst>
          </p:cNvPr>
          <p:cNvSpPr/>
          <p:nvPr/>
        </p:nvSpPr>
        <p:spPr>
          <a:xfrm>
            <a:off x="4215464" y="4612660"/>
            <a:ext cx="823707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EEDB70-E9E1-4DDA-AD97-6D3F548FD5BD}"/>
              </a:ext>
            </a:extLst>
          </p:cNvPr>
          <p:cNvSpPr txBox="1"/>
          <p:nvPr/>
        </p:nvSpPr>
        <p:spPr>
          <a:xfrm>
            <a:off x="4130226" y="4567262"/>
            <a:ext cx="9941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Trunk 10,60,99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7645C2-CB1A-A14E-6867-C15827F9DB7D}"/>
              </a:ext>
            </a:extLst>
          </p:cNvPr>
          <p:cNvSpPr/>
          <p:nvPr/>
        </p:nvSpPr>
        <p:spPr>
          <a:xfrm>
            <a:off x="7193483" y="4612660"/>
            <a:ext cx="696982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716AEB-33E6-45B7-B74A-F30172021EE8}"/>
              </a:ext>
            </a:extLst>
          </p:cNvPr>
          <p:cNvSpPr txBox="1"/>
          <p:nvPr/>
        </p:nvSpPr>
        <p:spPr>
          <a:xfrm>
            <a:off x="7126635" y="4567262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Trunk 70,99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90E82E-19DF-C653-EE48-8A848D133CC4}"/>
              </a:ext>
            </a:extLst>
          </p:cNvPr>
          <p:cNvSpPr/>
          <p:nvPr/>
        </p:nvSpPr>
        <p:spPr>
          <a:xfrm>
            <a:off x="5862879" y="5487057"/>
            <a:ext cx="950431" cy="164741"/>
          </a:xfrm>
          <a:prstGeom prst="rect">
            <a:avLst/>
          </a:prstGeom>
          <a:solidFill>
            <a:srgbClr val="0F172A"/>
          </a:solidFill>
          <a:ln w="9504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FBEFCF-21DB-885B-DB40-C0CA5ACDABB2}"/>
              </a:ext>
            </a:extLst>
          </p:cNvPr>
          <p:cNvSpPr txBox="1"/>
          <p:nvPr/>
        </p:nvSpPr>
        <p:spPr>
          <a:xfrm>
            <a:off x="5759249" y="5441659"/>
            <a:ext cx="11576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spc="0" baseline="0">
                <a:ln/>
                <a:solidFill>
                  <a:srgbClr val="F1F5F9"/>
                </a:solidFill>
                <a:latin typeface="Segoe UI"/>
                <a:cs typeface="Segoe UI"/>
                <a:sym typeface="Segoe UI"/>
                <a:rtl val="0"/>
              </a:rPr>
              <a:t>Trunk 20,30,40,99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8C9822-DD9C-E352-B992-E90E55CF5E15}"/>
              </a:ext>
            </a:extLst>
          </p:cNvPr>
          <p:cNvSpPr/>
          <p:nvPr/>
        </p:nvSpPr>
        <p:spPr>
          <a:xfrm>
            <a:off x="3866973" y="5740505"/>
            <a:ext cx="1520690" cy="164741"/>
          </a:xfrm>
          <a:prstGeom prst="rect">
            <a:avLst/>
          </a:prstGeom>
          <a:solidFill>
            <a:srgbClr val="451A03"/>
          </a:solidFill>
          <a:ln w="9504" cap="flat">
            <a:solidFill>
              <a:srgbClr val="F59E0B"/>
            </a:solidFill>
            <a:prstDash val="solid"/>
            <a:miter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C471DF-4578-8BF1-8750-08AC434C7375}"/>
              </a:ext>
            </a:extLst>
          </p:cNvPr>
          <p:cNvSpPr txBox="1"/>
          <p:nvPr/>
        </p:nvSpPr>
        <p:spPr>
          <a:xfrm>
            <a:off x="3618869" y="5698526"/>
            <a:ext cx="2016899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63" b="1" spc="0" baseline="0">
                <a:ln/>
                <a:solidFill>
                  <a:srgbClr val="FDE68A"/>
                </a:solidFill>
                <a:latin typeface="Segoe UI"/>
                <a:cs typeface="Segoe UI"/>
                <a:sym typeface="Segoe UI"/>
                <a:rtl val="0"/>
              </a:rPr>
              <a:t>Redundant Trunk Fa0/23 (STP BLK)</a:t>
            </a:r>
          </a:p>
        </p:txBody>
      </p:sp>
      <p:grpSp>
        <p:nvGrpSpPr>
          <p:cNvPr id="72" name="Graphic 41">
            <a:extLst>
              <a:ext uri="{FF2B5EF4-FFF2-40B4-BE49-F238E27FC236}">
                <a16:creationId xmlns:a16="http://schemas.microsoft.com/office/drawing/2014/main" id="{4CE89F1C-63F7-F5D2-DDBD-DBDCE2575884}"/>
              </a:ext>
            </a:extLst>
          </p:cNvPr>
          <p:cNvGrpSpPr/>
          <p:nvPr/>
        </p:nvGrpSpPr>
        <p:grpSpPr>
          <a:xfrm>
            <a:off x="3555922" y="1679861"/>
            <a:ext cx="1393965" cy="411905"/>
            <a:chOff x="3555922" y="1679861"/>
            <a:chExt cx="1393965" cy="41190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0BE8640-035A-DCA9-9610-4B9271716AB5}"/>
                </a:ext>
              </a:extLst>
            </p:cNvPr>
            <p:cNvSpPr/>
            <p:nvPr/>
          </p:nvSpPr>
          <p:spPr>
            <a:xfrm>
              <a:off x="3555922" y="1679861"/>
              <a:ext cx="1393965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A18F9AB-EB22-6EA4-F6D0-C4CA8F15EC53}"/>
                </a:ext>
              </a:extLst>
            </p:cNvPr>
            <p:cNvSpPr txBox="1"/>
            <p:nvPr/>
          </p:nvSpPr>
          <p:spPr>
            <a:xfrm>
              <a:off x="3651618" y="1702657"/>
              <a:ext cx="1202573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Internet Server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532CA42-E002-F2C4-2030-A2C6A01731BD}"/>
                </a:ext>
              </a:extLst>
            </p:cNvPr>
            <p:cNvSpPr txBox="1"/>
            <p:nvPr/>
          </p:nvSpPr>
          <p:spPr>
            <a:xfrm>
              <a:off x="3816727" y="1849392"/>
              <a:ext cx="872355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 dirty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203.0.113.10</a:t>
              </a:r>
            </a:p>
          </p:txBody>
        </p:sp>
      </p:grpSp>
      <p:grpSp>
        <p:nvGrpSpPr>
          <p:cNvPr id="76" name="Graphic 41">
            <a:extLst>
              <a:ext uri="{FF2B5EF4-FFF2-40B4-BE49-F238E27FC236}">
                <a16:creationId xmlns:a16="http://schemas.microsoft.com/office/drawing/2014/main" id="{B5467ADE-969C-B75F-4A17-75DC466B9695}"/>
              </a:ext>
            </a:extLst>
          </p:cNvPr>
          <p:cNvGrpSpPr/>
          <p:nvPr/>
        </p:nvGrpSpPr>
        <p:grpSpPr>
          <a:xfrm>
            <a:off x="3492559" y="2630292"/>
            <a:ext cx="1520690" cy="443534"/>
            <a:chOff x="3492559" y="2630292"/>
            <a:chExt cx="1520690" cy="44353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51C1525-7387-CFA0-CF1F-BEB3257DC664}"/>
                </a:ext>
              </a:extLst>
            </p:cNvPr>
            <p:cNvSpPr/>
            <p:nvPr/>
          </p:nvSpPr>
          <p:spPr>
            <a:xfrm>
              <a:off x="3492559" y="2630292"/>
              <a:ext cx="1520690" cy="443534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D286EB7-69D8-235B-BB64-64C0F95E676F}"/>
                </a:ext>
              </a:extLst>
            </p:cNvPr>
            <p:cNvSpPr txBox="1"/>
            <p:nvPr/>
          </p:nvSpPr>
          <p:spPr>
            <a:xfrm>
              <a:off x="3665243" y="2665761"/>
              <a:ext cx="1175323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R-ISP Gateway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8D753C4-5CA6-8E9C-7516-8DBEFC62A074}"/>
                </a:ext>
              </a:extLst>
            </p:cNvPr>
            <p:cNvSpPr txBox="1"/>
            <p:nvPr/>
          </p:nvSpPr>
          <p:spPr>
            <a:xfrm>
              <a:off x="3639595" y="2818832"/>
              <a:ext cx="1226618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NAT/PAT Overload</a:t>
              </a:r>
            </a:p>
          </p:txBody>
        </p:sp>
      </p:grpSp>
      <p:grpSp>
        <p:nvGrpSpPr>
          <p:cNvPr id="80" name="Graphic 41">
            <a:extLst>
              <a:ext uri="{FF2B5EF4-FFF2-40B4-BE49-F238E27FC236}">
                <a16:creationId xmlns:a16="http://schemas.microsoft.com/office/drawing/2014/main" id="{C5F46647-264B-4E95-4DD3-913189D49B76}"/>
              </a:ext>
            </a:extLst>
          </p:cNvPr>
          <p:cNvGrpSpPr/>
          <p:nvPr/>
        </p:nvGrpSpPr>
        <p:grpSpPr>
          <a:xfrm>
            <a:off x="3460878" y="3612404"/>
            <a:ext cx="1584052" cy="443534"/>
            <a:chOff x="3460878" y="3612404"/>
            <a:chExt cx="1584052" cy="44353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ECFED1C-B15A-39D0-5FF1-8F7E81758A9C}"/>
                </a:ext>
              </a:extLst>
            </p:cNvPr>
            <p:cNvSpPr/>
            <p:nvPr/>
          </p:nvSpPr>
          <p:spPr>
            <a:xfrm>
              <a:off x="3460878" y="3612404"/>
              <a:ext cx="1584052" cy="443534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F65F76F-70F3-976F-294D-41310F973A67}"/>
                </a:ext>
              </a:extLst>
            </p:cNvPr>
            <p:cNvSpPr txBox="1"/>
            <p:nvPr/>
          </p:nvSpPr>
          <p:spPr>
            <a:xfrm>
              <a:off x="3606734" y="3647873"/>
              <a:ext cx="129234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R-CAMPUS Core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04A3A45-8121-C8EA-8399-CACD2327AD69}"/>
                </a:ext>
              </a:extLst>
            </p:cNvPr>
            <p:cNvSpPr txBox="1"/>
            <p:nvPr/>
          </p:nvSpPr>
          <p:spPr>
            <a:xfrm>
              <a:off x="3749401" y="3800945"/>
              <a:ext cx="1007007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ROAS Gateway</a:t>
              </a:r>
            </a:p>
          </p:txBody>
        </p:sp>
      </p:grpSp>
      <p:grpSp>
        <p:nvGrpSpPr>
          <p:cNvPr id="84" name="Graphic 41">
            <a:extLst>
              <a:ext uri="{FF2B5EF4-FFF2-40B4-BE49-F238E27FC236}">
                <a16:creationId xmlns:a16="http://schemas.microsoft.com/office/drawing/2014/main" id="{294DEC20-7C29-32FA-5316-6BCFE2BC2816}"/>
              </a:ext>
            </a:extLst>
          </p:cNvPr>
          <p:cNvGrpSpPr/>
          <p:nvPr/>
        </p:nvGrpSpPr>
        <p:grpSpPr>
          <a:xfrm>
            <a:off x="658559" y="3968915"/>
            <a:ext cx="1584052" cy="443534"/>
            <a:chOff x="1211524" y="4689560"/>
            <a:chExt cx="1584052" cy="443534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3F67743-BF9C-0F14-4255-505E2E23DDC3}"/>
                </a:ext>
              </a:extLst>
            </p:cNvPr>
            <p:cNvSpPr/>
            <p:nvPr/>
          </p:nvSpPr>
          <p:spPr>
            <a:xfrm>
              <a:off x="1211524" y="4689560"/>
              <a:ext cx="1584052" cy="443534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8B95CE1-EC35-03B4-6421-9232569A9E46}"/>
                </a:ext>
              </a:extLst>
            </p:cNvPr>
            <p:cNvSpPr txBox="1"/>
            <p:nvPr/>
          </p:nvSpPr>
          <p:spPr>
            <a:xfrm>
              <a:off x="1567373" y="4725029"/>
              <a:ext cx="872355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R-HOSTEL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9D407-6D3C-CADC-94B7-E03DC141E2BE}"/>
                </a:ext>
              </a:extLst>
            </p:cNvPr>
            <p:cNvSpPr txBox="1"/>
            <p:nvPr/>
          </p:nvSpPr>
          <p:spPr>
            <a:xfrm>
              <a:off x="1274824" y="4878100"/>
              <a:ext cx="1457451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Branch Router &amp; DHCP</a:t>
              </a:r>
            </a:p>
          </p:txBody>
        </p:sp>
      </p:grpSp>
      <p:grpSp>
        <p:nvGrpSpPr>
          <p:cNvPr id="88" name="Graphic 41">
            <a:extLst>
              <a:ext uri="{FF2B5EF4-FFF2-40B4-BE49-F238E27FC236}">
                <a16:creationId xmlns:a16="http://schemas.microsoft.com/office/drawing/2014/main" id="{E981A49A-2A7A-B505-567A-945FD3247FB6}"/>
              </a:ext>
            </a:extLst>
          </p:cNvPr>
          <p:cNvGrpSpPr/>
          <p:nvPr/>
        </p:nvGrpSpPr>
        <p:grpSpPr>
          <a:xfrm>
            <a:off x="658559" y="5077751"/>
            <a:ext cx="1584052" cy="418242"/>
            <a:chOff x="1211524" y="5798396"/>
            <a:chExt cx="1584052" cy="41824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5D6E18-B3E6-6996-2C9A-E3F806421D93}"/>
                </a:ext>
              </a:extLst>
            </p:cNvPr>
            <p:cNvSpPr/>
            <p:nvPr/>
          </p:nvSpPr>
          <p:spPr>
            <a:xfrm>
              <a:off x="1211524" y="5798396"/>
              <a:ext cx="1584052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154A2C9-6A20-0673-334B-401D0389A458}"/>
                </a:ext>
              </a:extLst>
            </p:cNvPr>
            <p:cNvSpPr txBox="1"/>
            <p:nvPr/>
          </p:nvSpPr>
          <p:spPr>
            <a:xfrm>
              <a:off x="1502451" y="5827529"/>
              <a:ext cx="1002198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SW-HOSTEL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AFFC264-2019-8178-6870-CFBFB973046E}"/>
                </a:ext>
              </a:extLst>
            </p:cNvPr>
            <p:cNvSpPr txBox="1"/>
            <p:nvPr/>
          </p:nvSpPr>
          <p:spPr>
            <a:xfrm>
              <a:off x="1521688" y="5974264"/>
              <a:ext cx="963725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VLAN 50 &amp; 80</a:t>
              </a:r>
            </a:p>
          </p:txBody>
        </p:sp>
      </p:grpSp>
      <p:grpSp>
        <p:nvGrpSpPr>
          <p:cNvPr id="92" name="Graphic 41">
            <a:extLst>
              <a:ext uri="{FF2B5EF4-FFF2-40B4-BE49-F238E27FC236}">
                <a16:creationId xmlns:a16="http://schemas.microsoft.com/office/drawing/2014/main" id="{3DF2CEA9-CB28-0867-279E-39DF057E1879}"/>
              </a:ext>
            </a:extLst>
          </p:cNvPr>
          <p:cNvGrpSpPr/>
          <p:nvPr/>
        </p:nvGrpSpPr>
        <p:grpSpPr>
          <a:xfrm>
            <a:off x="563516" y="6059864"/>
            <a:ext cx="1774138" cy="418242"/>
            <a:chOff x="1116481" y="6780509"/>
            <a:chExt cx="1774138" cy="41824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1636417-CAA7-32D5-97B2-E347A0EE53AB}"/>
                </a:ext>
              </a:extLst>
            </p:cNvPr>
            <p:cNvSpPr/>
            <p:nvPr/>
          </p:nvSpPr>
          <p:spPr>
            <a:xfrm>
              <a:off x="1116481" y="6780509"/>
              <a:ext cx="1774138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C7335A4-1457-AA16-F005-EF039EBFFB8D}"/>
                </a:ext>
              </a:extLst>
            </p:cNvPr>
            <p:cNvSpPr txBox="1"/>
            <p:nvPr/>
          </p:nvSpPr>
          <p:spPr>
            <a:xfrm>
              <a:off x="1520085" y="6809641"/>
              <a:ext cx="966932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AP-HOSTEL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2045E40-E21C-A3C3-50C4-AFECE78FF6CC}"/>
                </a:ext>
              </a:extLst>
            </p:cNvPr>
            <p:cNvSpPr txBox="1"/>
            <p:nvPr/>
          </p:nvSpPr>
          <p:spPr>
            <a:xfrm>
              <a:off x="1140173" y="6956377"/>
              <a:ext cx="1726755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SSID: CAMPUS-WIFI (Port 0)</a:t>
              </a:r>
            </a:p>
          </p:txBody>
        </p:sp>
      </p:grpSp>
      <p:grpSp>
        <p:nvGrpSpPr>
          <p:cNvPr id="96" name="Graphic 41">
            <a:extLst>
              <a:ext uri="{FF2B5EF4-FFF2-40B4-BE49-F238E27FC236}">
                <a16:creationId xmlns:a16="http://schemas.microsoft.com/office/drawing/2014/main" id="{AC5F23A6-5398-5886-F9C6-BBAEB495E6B4}"/>
              </a:ext>
            </a:extLst>
          </p:cNvPr>
          <p:cNvGrpSpPr/>
          <p:nvPr/>
        </p:nvGrpSpPr>
        <p:grpSpPr>
          <a:xfrm>
            <a:off x="5609430" y="3998048"/>
            <a:ext cx="1584052" cy="443534"/>
            <a:chOff x="4886525" y="4689560"/>
            <a:chExt cx="1584052" cy="443534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79E39CB-BF20-07D9-D986-EC8D46399477}"/>
                </a:ext>
              </a:extLst>
            </p:cNvPr>
            <p:cNvSpPr/>
            <p:nvPr/>
          </p:nvSpPr>
          <p:spPr>
            <a:xfrm>
              <a:off x="4886525" y="4689560"/>
              <a:ext cx="1584052" cy="443534"/>
            </a:xfrm>
            <a:prstGeom prst="rect">
              <a:avLst/>
            </a:prstGeom>
            <a:solidFill>
              <a:srgbClr val="1E293B"/>
            </a:solidFill>
            <a:ln w="15840" cap="flat">
              <a:solidFill>
                <a:srgbClr val="38BDF8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9B78070-B641-5017-74DF-00D8DA1DD3DA}"/>
                </a:ext>
              </a:extLst>
            </p:cNvPr>
            <p:cNvSpPr txBox="1"/>
            <p:nvPr/>
          </p:nvSpPr>
          <p:spPr>
            <a:xfrm>
              <a:off x="5260007" y="4725029"/>
              <a:ext cx="837089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SW-CORE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7F9E345-0B04-EFC6-D786-2EA3D89EC075}"/>
                </a:ext>
              </a:extLst>
            </p:cNvPr>
            <p:cNvSpPr txBox="1"/>
            <p:nvPr/>
          </p:nvSpPr>
          <p:spPr>
            <a:xfrm>
              <a:off x="4917766" y="4878100"/>
              <a:ext cx="1521571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Rapid-PVST Root Bridge</a:t>
              </a:r>
            </a:p>
          </p:txBody>
        </p:sp>
      </p:grpSp>
      <p:grpSp>
        <p:nvGrpSpPr>
          <p:cNvPr id="100" name="Graphic 41">
            <a:extLst>
              <a:ext uri="{FF2B5EF4-FFF2-40B4-BE49-F238E27FC236}">
                <a16:creationId xmlns:a16="http://schemas.microsoft.com/office/drawing/2014/main" id="{894DE781-01D4-8DF5-07F8-319B294878D4}"/>
              </a:ext>
            </a:extLst>
          </p:cNvPr>
          <p:cNvGrpSpPr/>
          <p:nvPr/>
        </p:nvGrpSpPr>
        <p:grpSpPr>
          <a:xfrm>
            <a:off x="3835292" y="5106884"/>
            <a:ext cx="1584052" cy="418242"/>
            <a:chOff x="3112387" y="5798396"/>
            <a:chExt cx="1584052" cy="41824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BB7A91E-172B-8D98-FD10-6A1A15310E0F}"/>
                </a:ext>
              </a:extLst>
            </p:cNvPr>
            <p:cNvSpPr/>
            <p:nvPr/>
          </p:nvSpPr>
          <p:spPr>
            <a:xfrm>
              <a:off x="3112387" y="5798396"/>
              <a:ext cx="1584052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FDEA21C-CDEB-7C30-C14D-EC29C218B8F9}"/>
                </a:ext>
              </a:extLst>
            </p:cNvPr>
            <p:cNvSpPr txBox="1"/>
            <p:nvPr/>
          </p:nvSpPr>
          <p:spPr>
            <a:xfrm>
              <a:off x="3418542" y="5827529"/>
              <a:ext cx="971741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SW-ADMIN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C772195-4E32-20DA-2B20-7B2D5DCD2297}"/>
                </a:ext>
              </a:extLst>
            </p:cNvPr>
            <p:cNvSpPr txBox="1"/>
            <p:nvPr/>
          </p:nvSpPr>
          <p:spPr>
            <a:xfrm>
              <a:off x="3329576" y="5974264"/>
              <a:ext cx="1149674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Admin &amp; Security</a:t>
              </a:r>
            </a:p>
          </p:txBody>
        </p:sp>
      </p:grpSp>
      <p:grpSp>
        <p:nvGrpSpPr>
          <p:cNvPr id="104" name="Graphic 41">
            <a:extLst>
              <a:ext uri="{FF2B5EF4-FFF2-40B4-BE49-F238E27FC236}">
                <a16:creationId xmlns:a16="http://schemas.microsoft.com/office/drawing/2014/main" id="{B266C528-DFF7-A7F6-A8FB-74A87760DBF8}"/>
              </a:ext>
            </a:extLst>
          </p:cNvPr>
          <p:cNvGrpSpPr/>
          <p:nvPr/>
        </p:nvGrpSpPr>
        <p:grpSpPr>
          <a:xfrm>
            <a:off x="6623223" y="5106884"/>
            <a:ext cx="1584052" cy="418242"/>
            <a:chOff x="6027043" y="5798396"/>
            <a:chExt cx="1584052" cy="41824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6269BC8-DA07-6A90-53F0-B37A10ED2357}"/>
                </a:ext>
              </a:extLst>
            </p:cNvPr>
            <p:cNvSpPr/>
            <p:nvPr/>
          </p:nvSpPr>
          <p:spPr>
            <a:xfrm>
              <a:off x="6027043" y="5798396"/>
              <a:ext cx="1584052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CD49A14-97FE-A462-4CD9-791E376D7369}"/>
                </a:ext>
              </a:extLst>
            </p:cNvPr>
            <p:cNvSpPr txBox="1"/>
            <p:nvPr/>
          </p:nvSpPr>
          <p:spPr>
            <a:xfrm>
              <a:off x="6325985" y="5827529"/>
              <a:ext cx="986168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SW-SERVER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0B98D81-90CD-FA1B-B4FF-AACC2F8F68B2}"/>
                </a:ext>
              </a:extLst>
            </p:cNvPr>
            <p:cNvSpPr txBox="1"/>
            <p:nvPr/>
          </p:nvSpPr>
          <p:spPr>
            <a:xfrm>
              <a:off x="6237019" y="5974264"/>
              <a:ext cx="1164101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Web &amp; DNS Farm</a:t>
              </a:r>
            </a:p>
          </p:txBody>
        </p:sp>
      </p:grpSp>
      <p:grpSp>
        <p:nvGrpSpPr>
          <p:cNvPr id="108" name="Graphic 41">
            <a:extLst>
              <a:ext uri="{FF2B5EF4-FFF2-40B4-BE49-F238E27FC236}">
                <a16:creationId xmlns:a16="http://schemas.microsoft.com/office/drawing/2014/main" id="{495B0451-86EC-7EB7-0494-45B96AEF419B}"/>
              </a:ext>
            </a:extLst>
          </p:cNvPr>
          <p:cNvGrpSpPr/>
          <p:nvPr/>
        </p:nvGrpSpPr>
        <p:grpSpPr>
          <a:xfrm>
            <a:off x="5070853" y="6088997"/>
            <a:ext cx="1774138" cy="418242"/>
            <a:chOff x="4347948" y="6780509"/>
            <a:chExt cx="1774138" cy="418242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6E0CD90-B629-DB2F-5DCF-951663D6B617}"/>
                </a:ext>
              </a:extLst>
            </p:cNvPr>
            <p:cNvSpPr/>
            <p:nvPr/>
          </p:nvSpPr>
          <p:spPr>
            <a:xfrm>
              <a:off x="4347948" y="6780509"/>
              <a:ext cx="1774138" cy="411853"/>
            </a:xfrm>
            <a:prstGeom prst="rect">
              <a:avLst/>
            </a:prstGeom>
            <a:solidFill>
              <a:srgbClr val="1E293B"/>
            </a:solidFill>
            <a:ln w="12672" cap="flat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AF72CF1-2312-6CEA-CDAC-7DBE58792D23}"/>
                </a:ext>
              </a:extLst>
            </p:cNvPr>
            <p:cNvSpPr txBox="1"/>
            <p:nvPr/>
          </p:nvSpPr>
          <p:spPr>
            <a:xfrm>
              <a:off x="4627318" y="6809641"/>
              <a:ext cx="1215397" cy="265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25" b="1" spc="0" baseline="0">
                  <a:ln/>
                  <a:solidFill>
                    <a:srgbClr val="FFFFFF"/>
                  </a:solidFill>
                  <a:latin typeface="Segoe UI"/>
                  <a:cs typeface="Segoe UI"/>
                  <a:sym typeface="Segoe UI"/>
                  <a:rtl val="0"/>
                </a:rPr>
                <a:t>SW-ACADEMIC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F80F48E-E426-A008-27E2-A8C277B11E93}"/>
                </a:ext>
              </a:extLst>
            </p:cNvPr>
            <p:cNvSpPr txBox="1"/>
            <p:nvPr/>
          </p:nvSpPr>
          <p:spPr>
            <a:xfrm>
              <a:off x="4652165" y="6956377"/>
              <a:ext cx="1165704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75" spc="0" baseline="0">
                  <a:ln/>
                  <a:solidFill>
                    <a:srgbClr val="93C5FD"/>
                  </a:solidFill>
                  <a:latin typeface="Segoe UI"/>
                  <a:cs typeface="Segoe UI"/>
                  <a:sym typeface="Segoe UI"/>
                  <a:rtl val="0"/>
                </a:rPr>
                <a:t>CSE, IoT &amp; Library</a:t>
              </a:r>
            </a:p>
          </p:txBody>
        </p: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FCCBE6E5-9E3F-74FC-6099-8EC40A25070D}"/>
              </a:ext>
            </a:extLst>
          </p:cNvPr>
          <p:cNvCxnSpPr>
            <a:cxnSpLocks/>
            <a:stCxn id="81" idx="1"/>
            <a:endCxn id="59" idx="3"/>
          </p:cNvCxnSpPr>
          <p:nvPr/>
        </p:nvCxnSpPr>
        <p:spPr>
          <a:xfrm rot="10800000">
            <a:off x="2221792" y="3576389"/>
            <a:ext cx="1239087" cy="257782"/>
          </a:xfrm>
          <a:prstGeom prst="bentConnector3">
            <a:avLst/>
          </a:prstGeom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106DD94F-8BFD-2950-1F07-39F48E574AB3}"/>
              </a:ext>
            </a:extLst>
          </p:cNvPr>
          <p:cNvCxnSpPr>
            <a:cxnSpLocks/>
            <a:stCxn id="81" idx="3"/>
            <a:endCxn id="61" idx="1"/>
          </p:cNvCxnSpPr>
          <p:nvPr/>
        </p:nvCxnSpPr>
        <p:spPr>
          <a:xfrm flipV="1">
            <a:off x="5044930" y="3605522"/>
            <a:ext cx="897106" cy="228649"/>
          </a:xfrm>
          <a:prstGeom prst="bentConnector3">
            <a:avLst/>
          </a:prstGeom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PHYSICAL INFRASTRUCTURE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1053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Layer 1: every link has a defined cable and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5205"/>
            <a:ext cx="10972526" cy="4807248"/>
          </a:xfrm>
          <a:prstGeom prst="rect">
            <a:avLst/>
          </a:prstGeom>
          <a:solidFill>
            <a:srgbClr val="14141C"/>
          </a:solidFill>
          <a:ln w="1270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479" y="1574105"/>
          <a:ext cx="10540736" cy="4629331"/>
        </p:xfrm>
        <a:graphic>
          <a:graphicData uri="http://schemas.openxmlformats.org/drawingml/2006/table">
            <a:tbl>
              <a:tblPr/>
              <a:tblGrid>
                <a:gridCol w="2108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2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Link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Interfaces · cable type · role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ISP WAN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R-ISP Gi0/0 to R-CAMPUS Gi0/0 · Cross-over · Public edge, 200.1.1.0/30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Hostel WAN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R-CAMPUS Gi0/2 to R-HOSTEL Gi0/0 · Cross-over · Interconnect, 10.0.0.4/30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Campus uplink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R-CAMPUS Gi0/1 to SW-CORE Fa0/1 · Straight-through · 802.1Q trunk for VLANs 10,20,30,40,60,70,99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Hostel uplink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R-HOSTEL Gi0/1 to SW-HOSTEL Gi0/1 · Straight-through · Trunk for VLANs 50,80,99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Core distribution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SW-CORE to SW-ADMIN/ACADEMIC/SERVER · Cross-over · 802.1Q trunks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Redundant link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SW-ADMIN Fa0/23 to SW-ACADEMIC Fa0/23 · Cross-over · Standby managed by Rapid-PVST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16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Access point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AP-HOSTEL Port 0 to SW-HOSTEL Fa0/11 · Straight-through · Port 0 is wired Ethernet; Port 1 is the 2.4GHz radio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5479" y="2031195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5479" y="2500984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25479" y="2970773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5479" y="3735135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5479" y="4204924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5479" y="4674713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5479" y="5439075"/>
            <a:ext cx="10540736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Nine VLANs enforce strict broadcast boundaries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15390"/>
            <a:ext cx="10972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Each VLAN gets its own IPv4 /24 (gateway .1) and IPv6 /64 (gateway ::1), 2001:db8:acad:&lt;VLAN&gt;::/64. VLAN 99 management is IPv4-only, out-of-band, on switch SVIs.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290961"/>
            <a:ext cx="3454314" cy="407987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31" y="2398911"/>
          <a:ext cx="3187620" cy="3606114"/>
        </p:xfrm>
        <a:graphic>
          <a:graphicData uri="http://schemas.openxmlformats.org/drawingml/2006/table">
            <a:tbl>
              <a:tblPr/>
              <a:tblGrid>
                <a:gridCol w="318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10 · Admin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192.168.10.0/24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2001:db8:acad:10::/64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SW-ADMIN Fa0/1-3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20 · CSE Academic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192.168.20.0/24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2001:db8:acad:20::/64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SW-ACADEMIC Fa0/1-2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30 · IoT &amp; Research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192.168.30.0/24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2001:db8:acad:30::/64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SW-ACADEMIC Fa0/6-8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2931" y="3592483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2931" y="4798754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68691" y="2290961"/>
            <a:ext cx="3454314" cy="407987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02037" y="2398911"/>
          <a:ext cx="3187620" cy="3606114"/>
        </p:xfrm>
        <a:graphic>
          <a:graphicData uri="http://schemas.openxmlformats.org/drawingml/2006/table">
            <a:tbl>
              <a:tblPr/>
              <a:tblGrid>
                <a:gridCol w="318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40 · Library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192.168.40.0/24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2001:db8:acad:40::/64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SW-ACADEMIC Fa0/11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50 · Hostel Wired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192.168.50.0/24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2001:db8:acad:50::/64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SW-HOSTEL Fa0/1-2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60 · Security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192.168.60.0/24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2001:db8:acad:60::/64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SW-ADMIN Fa0/11-12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02037" y="3592483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02037" y="4798754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27797" y="2290961"/>
            <a:ext cx="3454314" cy="407987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61143" y="2398911"/>
          <a:ext cx="3187620" cy="3863878"/>
        </p:xfrm>
        <a:graphic>
          <a:graphicData uri="http://schemas.openxmlformats.org/drawingml/2006/table">
            <a:tbl>
              <a:tblPr/>
              <a:tblGrid>
                <a:gridCol w="318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70 · Server Farm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192.168.70.0/24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2001:db8:acad:70::/64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SW-SERVER Fa0/1-2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2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80 · Hostel Wi-Fi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192.168.80.0/24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2001:db8:acad:80::/64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SW-HOSTEL Fa0/11 (AP uplink)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VLAN 99 · Management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192.168.99.0/24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n/a (IPv4 out-of-band)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Switch SVIs (SW-CORE to SW-HOSTEL)</a:t>
                      </a:r>
                      <a:endParaRPr lang="en-US" sz="14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8261143" y="3592483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261143" y="4798754"/>
            <a:ext cx="318762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LAYER 2 &amp; INTER-VLAN ROUTING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10530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Router-on-a-stick and Rapid-PVST give fast, loop-free switching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90055"/>
            <a:ext cx="5333867" cy="4077891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9928" y="2306102"/>
            <a:ext cx="48131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802.1Q Router-on-a-Stick (ROAS)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9928" y="2737683"/>
            <a:ext cx="4813180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One physical trunk interface (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R-CAMPUS Gi0/1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) carries tagged frames across 7 logical subinterfaces: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8" y="3378002"/>
            <a:ext cx="4813180" cy="18001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48244" y="2190055"/>
            <a:ext cx="5333867" cy="4077891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08587" y="2306102"/>
            <a:ext cx="48131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802.1w Rapid-PVST Spanning Tree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08587" y="2735461"/>
            <a:ext cx="4813180" cy="342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Root Primary: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SW-CORE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forced as root bridge via priority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24576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Loop Resolution: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Redundant cross-over link between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SW-ADMIN Fa0/23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and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SW-ACADEMIC Fa0/23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Blocking State: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Because SW-ACADEMIC has the lower base MAC address,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SW-ADMIN Fa0/23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transitions to </a:t>
            </a:r>
            <a:r>
              <a:rPr lang="en-US" sz="1600" i="1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Alternate Blocking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Sub-second Failover: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Proposal-agreement handshakes bypass 802.1D listening/learning delays.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DYNAMIC ROUTING &amp; PROPAGATION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1053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RIPv2 discovers routes and passes down a default route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5205"/>
            <a:ext cx="6400640" cy="476319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1694755"/>
            <a:ext cx="5930752" cy="26025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4918" y="1831538"/>
            <a:ext cx="426719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Routing Characteristics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4918" y="2260898"/>
            <a:ext cx="4267192" cy="364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Classless operation: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2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with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 auto-summary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stops contiguous /24 networks from collapsing into invalid /16 Class C boundaries.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Subinterface binding: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Explicit network statements bind routing updates to the ROAS subinterfaces without needing separate physical ports.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Deterministic exit: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All outbound packets from academic and hostel departments resolve to R-CAMPUS then traverse R-ISP via PAT.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noFill/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" y="6350"/>
            <a:ext cx="4863978" cy="6845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3867" y="360521"/>
            <a:ext cx="68578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WIRELESS &amp; CLIENT ONBOARDING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333867" y="656530"/>
            <a:ext cx="64514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Students join Wi-Fi and get an address with zero configuration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333867" y="1936055"/>
            <a:ext cx="8173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3867" y="2220516"/>
            <a:ext cx="1845621" cy="19050"/>
          </a:xfrm>
          <a:prstGeom prst="rect">
            <a:avLst/>
          </a:prstGeom>
          <a:solidFill>
            <a:srgbClr val="3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33867" y="2369503"/>
            <a:ext cx="184562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1. Access Point Radio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33867" y="3092490"/>
            <a:ext cx="1845621" cy="155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AP-HOSTEL: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2.4 GHz channel 6, SSID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CAMPUS-WIFI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, secured with WPA2-PSK (AES), key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Campus@123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6676" y="1936055"/>
            <a:ext cx="84482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36676" y="2220516"/>
            <a:ext cx="1845621" cy="19050"/>
          </a:xfrm>
          <a:prstGeom prst="rect">
            <a:avLst/>
          </a:prstGeom>
          <a:solidFill>
            <a:srgbClr val="3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636676" y="2369503"/>
            <a:ext cx="184572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2. Central DHCP Lease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36676" y="3092490"/>
            <a:ext cx="1845720" cy="130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C9C9D4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R-HOSTEL Pool WIFI: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192.168.80.0/24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 Excluded range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.1–.20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reserves gateway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.1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and AP uplink.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939585" y="1936055"/>
            <a:ext cx="8495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SemiBold" pitchFamily="34" charset="0"/>
                <a:ea typeface="Spline Sans SemiBold" pitchFamily="34" charset="-122"/>
                <a:cs typeface="Spline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939585" y="2220516"/>
            <a:ext cx="1845621" cy="19050"/>
          </a:xfrm>
          <a:prstGeom prst="rect">
            <a:avLst/>
          </a:prstGeom>
          <a:solidFill>
            <a:srgbClr val="3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939585" y="2369503"/>
            <a:ext cx="184562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3. Instant Verification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939585" y="3092490"/>
            <a:ext cx="1845621" cy="155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Laptops auto-negotiate DORA, lease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192.168.80.21+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, and configure DNS </a:t>
            </a:r>
            <a:r>
              <a:rPr lang="en-US" sz="14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192.168.70.11</a:t>
            </a: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to reach intranet portal.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52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EDGE TRANSLATION &amp; CORE SERVICES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910530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PAT shares one public IP; local DNS and web serve the campus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885255"/>
            <a:ext cx="5333867" cy="436314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9928" y="2128302"/>
            <a:ext cx="48131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PAT / NAT overload on R-ISP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9928" y="2560201"/>
            <a:ext cx="481318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Inside Gi0/0, outside Gi0/1. All 192.168.0.0/16 hosts translate to 203.0.113.1 via Layer 4 ports.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9928" y="3267472"/>
          <a:ext cx="4813180" cy="926878"/>
        </p:xfrm>
        <a:graphic>
          <a:graphicData uri="http://schemas.openxmlformats.org/drawingml/2006/table">
            <a:tbl>
              <a:tblPr/>
              <a:tblGrid>
                <a:gridCol w="2406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Inside Local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Inside Global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192.168.50.11:1028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9C9D4"/>
                          </a:solidFill>
                          <a:latin typeface="Spline Sans" pitchFamily="34" charset="0"/>
                          <a:ea typeface="Spline Sans" pitchFamily="34" charset="-122"/>
                          <a:cs typeface="Spline Sans" pitchFamily="34" charset="-120"/>
                        </a:rPr>
                        <a:t>203.0.113.1:1028</a:t>
                      </a:r>
                      <a:endParaRPr lang="en-US" sz="1600" dirty="0">
                        <a:latin typeface="Spline Sans" charset="0"/>
                        <a:ea typeface="Spline Sans" charset="0"/>
                        <a:cs typeface="Spline Sans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9928" y="3724561"/>
            <a:ext cx="4813180" cy="12700"/>
          </a:xfrm>
          <a:prstGeom prst="rect">
            <a:avLst/>
          </a:prstGeom>
          <a:solidFill>
            <a:srgbClr val="2A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869928" y="4318595"/>
            <a:ext cx="5073523" cy="220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Confirmed with </a:t>
            </a:r>
            <a:r>
              <a:rPr lang="en-US" sz="1250" kern="100" spc="6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 ip nat translations</a:t>
            </a:r>
            <a:r>
              <a:rPr lang="en-US" sz="1250" kern="100" spc="6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8244" y="1885255"/>
            <a:ext cx="5333867" cy="4363145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08587" y="2128302"/>
            <a:ext cx="48131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Intranet web and DNS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08587" y="2557661"/>
            <a:ext cx="4813180" cy="1235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DNS 192.168.70.11: </a:t>
            </a:r>
            <a:r>
              <a:rPr lang="en-US" sz="1600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www.campus.local</a:t>
            </a: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 maps to 192.168.70.10.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Web server 192.168.70.10 hosts the intranet portal over HTTP/HTTPS for every department.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IPv6 runs alongside IPv4 with no disruption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517650"/>
            <a:ext cx="5333867" cy="2212975"/>
          </a:xfrm>
          <a:prstGeom prst="roundRect">
            <a:avLst>
              <a:gd name="adj" fmla="val 3856"/>
            </a:avLst>
          </a:prstGeom>
          <a:noFill/>
          <a:ln w="25399">
            <a:solidFill>
              <a:srgbClr val="3F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578" y="1779746"/>
            <a:ext cx="4825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2001:db8:acad::/48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578" y="2211646"/>
            <a:ext cx="48258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Split into /64s matching VLAN IDs (Admin 10, CSE 20, Servers 70).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8244" y="1517650"/>
            <a:ext cx="5333867" cy="2212975"/>
          </a:xfrm>
          <a:prstGeom prst="roundRect">
            <a:avLst>
              <a:gd name="adj" fmla="val 3856"/>
            </a:avLst>
          </a:prstGeom>
          <a:noFill/>
          <a:ln w="25399">
            <a:solidFill>
              <a:srgbClr val="3F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2237" y="1779746"/>
            <a:ext cx="4825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highlight>
                  <a:srgbClr val="14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ipv6 unicast-routing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2237" y="2211646"/>
            <a:ext cx="507987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On all routers; IPv4 configs untouched.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4035425"/>
            <a:ext cx="5333867" cy="2212975"/>
          </a:xfrm>
          <a:prstGeom prst="roundRect">
            <a:avLst>
              <a:gd name="adj" fmla="val 3856"/>
            </a:avLst>
          </a:prstGeom>
          <a:noFill/>
          <a:ln w="25399">
            <a:solidFill>
              <a:srgbClr val="3F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3578" y="4297521"/>
            <a:ext cx="4825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SLAAC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3578" y="4729421"/>
            <a:ext cx="48258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R-HOSTEL sends Router Advertisements on VLAN 80; laptops self-configure with no DHCPv6.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244" y="4035425"/>
            <a:ext cx="5333867" cy="2212975"/>
          </a:xfrm>
          <a:prstGeom prst="roundRect">
            <a:avLst>
              <a:gd name="adj" fmla="val 3856"/>
            </a:avLst>
          </a:prstGeom>
          <a:noFill/>
          <a:ln w="25399">
            <a:solidFill>
              <a:srgbClr val="3F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2237" y="4297521"/>
            <a:ext cx="4825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-42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Dual-stack pings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02237" y="4729421"/>
            <a:ext cx="48258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100% ICMPv6 success across WAN routers and inter-VLAN subinterfaces.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175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All 16 acceptance tests passed; next up is redundancy and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917700"/>
            <a:ext cx="6400640" cy="4330700"/>
          </a:xfrm>
          <a:prstGeom prst="roundRect">
            <a:avLst>
              <a:gd name="adj" fmla="val 1971"/>
            </a:avLst>
          </a:prstGeom>
          <a:solidFill>
            <a:srgbClr val="141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8978" y="2155825"/>
            <a:ext cx="58418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Verified (16/16)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8978" y="2635250"/>
            <a:ext cx="5841854" cy="261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Inter-VLAN routing across Admin, CSE, IoT, Library, Security and Servers, 0% loss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Cross-router RIPv2 peering, Hostel-PC1 to Admin-PC1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DNS resolution of www.campus.local and intranet page loading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Live NAT/PAT translations on R-ISP to 203.0.113.10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Rapid-PVST root on SW-CORE, blocking port on SW-ADMIN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End-to-end dual-stack IPv6 communication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4918" y="1917700"/>
            <a:ext cx="4267192" cy="4330700"/>
          </a:xfrm>
          <a:prstGeom prst="roundRect">
            <a:avLst>
              <a:gd name="adj" fmla="val 2000"/>
            </a:avLst>
          </a:prstGeom>
          <a:noFill/>
          <a:ln w="25399">
            <a:solidFill>
              <a:srgbClr val="3F3F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94311" y="2181225"/>
            <a:ext cx="37084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-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Roadmap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94311" y="2660650"/>
            <a:ext cx="3708406" cy="157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HSRP/VRRP for first-hop redundancy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Migrate RIPv2 to multi-area OSPFv2/OSPFv3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Stateful firewalls and departmental ACLs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1331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Spline Sans</vt:lpstr>
      <vt:lpstr>Spline Sans SemiBold</vt:lpstr>
      <vt:lpstr>Sora SemiBold</vt:lpstr>
      <vt:lpstr>Fragment Mono</vt:lpstr>
      <vt:lpstr>Consolas</vt:lpstr>
      <vt:lpstr>Spline Sans Bold</vt:lpstr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 kumar kashyap</dc:creator>
  <cp:lastModifiedBy>Raman Kashyap</cp:lastModifiedBy>
  <cp:revision>2</cp:revision>
  <dcterms:created xsi:type="dcterms:W3CDTF">2026-10-20T09:12:36Z</dcterms:created>
  <dcterms:modified xsi:type="dcterms:W3CDTF">2026-10-20T10:04:25Z</dcterms:modified>
</cp:coreProperties>
</file>